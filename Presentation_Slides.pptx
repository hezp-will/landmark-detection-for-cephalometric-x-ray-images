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3b2f7ed70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b2f7ed70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3b2f7ed7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3b2f7ed7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3b3cf8a38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3b3cf8a38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3b3cf8a38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3b3cf8a38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3b3cf8a38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3b3cf8a38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3b3cf8a38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3b3cf8a38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3b3cf8a38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3b3cf8a38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3b3cf8a38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3b3cf8a38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wandb.ai/646_project/646_project?workspace=user-zp15" TargetMode="Externa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wandb.ai/646_project/646_project?workspace=user-zp15"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Landmark Detection for Cephalometric X-Ray Images</a:t>
            </a:r>
            <a:endParaRPr/>
          </a:p>
        </p:txBody>
      </p:sp>
      <p:sp>
        <p:nvSpPr>
          <p:cNvPr id="135" name="Google Shape;135;p13"/>
          <p:cNvSpPr txBox="1"/>
          <p:nvPr>
            <p:ph idx="1" type="subTitle"/>
          </p:nvPr>
        </p:nvSpPr>
        <p:spPr>
          <a:xfrm>
            <a:off x="5083950" y="3924925"/>
            <a:ext cx="3902100" cy="80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Ray Zhang, Nik Sun, William Pan</a:t>
            </a:r>
            <a:endParaRPr/>
          </a:p>
          <a:p>
            <a:pPr indent="0" lvl="0" marL="0" rtl="0" algn="l">
              <a:spcBef>
                <a:spcPts val="0"/>
              </a:spcBef>
              <a:spcAft>
                <a:spcPts val="0"/>
              </a:spcAft>
              <a:buNone/>
            </a:pPr>
            <a:r>
              <a:rPr lang="en"/>
              <a:t>Professor: Vicente Ordóñez-Román</a:t>
            </a:r>
            <a:endParaRPr/>
          </a:p>
          <a:p>
            <a:pPr indent="0" lvl="0" marL="0" rtl="0" algn="l">
              <a:spcBef>
                <a:spcPts val="0"/>
              </a:spcBef>
              <a:spcAft>
                <a:spcPts val="0"/>
              </a:spcAft>
              <a:buNone/>
            </a:pPr>
            <a:r>
              <a:rPr lang="en"/>
              <a:t>Department of Computer Science, Rice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Cephalometric</a:t>
            </a:r>
            <a:endParaRPr/>
          </a:p>
        </p:txBody>
      </p:sp>
      <p:sp>
        <p:nvSpPr>
          <p:cNvPr id="141" name="Google Shape;141;p14"/>
          <p:cNvSpPr txBox="1"/>
          <p:nvPr>
            <p:ph idx="1" type="body"/>
          </p:nvPr>
        </p:nvSpPr>
        <p:spPr>
          <a:xfrm>
            <a:off x="1297500" y="1567550"/>
            <a:ext cx="41577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Cephalometric analysis is a diagnostic tool used in dentistry and orthodontics to assess the relationships between the bones, teeth, and soft tissues of the face and jaws. It involves taking measurements and analyzing X-ray images of the head and neck, which can help dentists and orthodontists diagnose and treat malocclusions (improper bites) and other dental and facial irregularities. Cephalometric analysis can provide information on the position, size, and shape of the teeth, jaws, and other facial structures, which can be used to plan and monitor orthodontic treatment.</a:t>
            </a:r>
            <a:endParaRPr/>
          </a:p>
        </p:txBody>
      </p:sp>
      <p:pic>
        <p:nvPicPr>
          <p:cNvPr id="142" name="Google Shape;142;p14"/>
          <p:cNvPicPr preferRelativeResize="0"/>
          <p:nvPr/>
        </p:nvPicPr>
        <p:blipFill>
          <a:blip r:embed="rId3">
            <a:alphaModFix/>
          </a:blip>
          <a:stretch>
            <a:fillRect/>
          </a:stretch>
        </p:blipFill>
        <p:spPr>
          <a:xfrm>
            <a:off x="5519600" y="1685950"/>
            <a:ext cx="3024650" cy="2336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a:t>
            </a:r>
            <a:endParaRPr/>
          </a:p>
        </p:txBody>
      </p:sp>
      <p:sp>
        <p:nvSpPr>
          <p:cNvPr id="148" name="Google Shape;148;p1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dataset comes form 2015 </a:t>
            </a:r>
            <a:r>
              <a:rPr lang="en"/>
              <a:t>International Symposium on Biomedical Imaging (ISBI)</a:t>
            </a:r>
            <a:r>
              <a:rPr lang="en"/>
              <a:t> Grand Challenge and comprises</a:t>
            </a:r>
            <a:endParaRPr/>
          </a:p>
          <a:p>
            <a:pPr indent="-311150" lvl="0" marL="457200" rtl="0" algn="l">
              <a:spcBef>
                <a:spcPts val="1200"/>
              </a:spcBef>
              <a:spcAft>
                <a:spcPts val="0"/>
              </a:spcAft>
              <a:buSzPts val="1300"/>
              <a:buChar char="-"/>
            </a:pPr>
            <a:r>
              <a:rPr lang="en"/>
              <a:t>150 training image</a:t>
            </a:r>
            <a:endParaRPr/>
          </a:p>
          <a:p>
            <a:pPr indent="-311150" lvl="0" marL="457200" rtl="0" algn="l">
              <a:spcBef>
                <a:spcPts val="0"/>
              </a:spcBef>
              <a:spcAft>
                <a:spcPts val="0"/>
              </a:spcAft>
              <a:buSzPts val="1300"/>
              <a:buChar char="-"/>
            </a:pPr>
            <a:r>
              <a:rPr lang="en"/>
              <a:t>150 validation image</a:t>
            </a:r>
            <a:endParaRPr/>
          </a:p>
          <a:p>
            <a:pPr indent="-311150" lvl="0" marL="457200" rtl="0" algn="l">
              <a:spcBef>
                <a:spcPts val="0"/>
              </a:spcBef>
              <a:spcAft>
                <a:spcPts val="0"/>
              </a:spcAft>
              <a:buSzPts val="1300"/>
              <a:buChar char="-"/>
            </a:pPr>
            <a:r>
              <a:rPr lang="en"/>
              <a:t>100 testing image</a:t>
            </a:r>
            <a:endParaRPr/>
          </a:p>
          <a:p>
            <a:pPr indent="0" lvl="0" marL="0" rtl="0" algn="l">
              <a:spcBef>
                <a:spcPts val="1200"/>
              </a:spcBef>
              <a:spcAft>
                <a:spcPts val="0"/>
              </a:spcAft>
              <a:buNone/>
            </a:pPr>
            <a:r>
              <a:rPr lang="en"/>
              <a:t>We preprocessed the data as follows:</a:t>
            </a:r>
            <a:endParaRPr/>
          </a:p>
          <a:p>
            <a:pPr indent="-311150" lvl="0" marL="457200" rtl="0" algn="l">
              <a:spcBef>
                <a:spcPts val="1200"/>
              </a:spcBef>
              <a:spcAft>
                <a:spcPts val="0"/>
              </a:spcAft>
              <a:buSzPts val="1300"/>
              <a:buChar char="-"/>
            </a:pPr>
            <a:r>
              <a:rPr lang="en"/>
              <a:t>Resize all image to 224x224</a:t>
            </a:r>
            <a:endParaRPr/>
          </a:p>
          <a:p>
            <a:pPr indent="-311150" lvl="0" marL="457200" rtl="0" algn="l">
              <a:spcBef>
                <a:spcPts val="0"/>
              </a:spcBef>
              <a:spcAft>
                <a:spcPts val="0"/>
              </a:spcAft>
              <a:buSzPts val="1300"/>
              <a:buChar char="-"/>
            </a:pPr>
            <a:r>
              <a:rPr lang="en"/>
              <a:t>Apply five augmentation to the training set: horizontal and vertical flips, 3 different rotations</a:t>
            </a:r>
            <a:endParaRPr/>
          </a:p>
        </p:txBody>
      </p:sp>
      <p:pic>
        <p:nvPicPr>
          <p:cNvPr id="149" name="Google Shape;149;p15"/>
          <p:cNvPicPr preferRelativeResize="0"/>
          <p:nvPr/>
        </p:nvPicPr>
        <p:blipFill rotWithShape="1">
          <a:blip r:embed="rId3">
            <a:alphaModFix/>
          </a:blip>
          <a:srcRect b="0" l="5508" r="0" t="8248"/>
          <a:stretch/>
        </p:blipFill>
        <p:spPr>
          <a:xfrm>
            <a:off x="4856250" y="1749537"/>
            <a:ext cx="3604250" cy="2547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 CNN and a deeper CNN variant</a:t>
            </a:r>
            <a:endParaRPr/>
          </a:p>
        </p:txBody>
      </p:sp>
      <p:sp>
        <p:nvSpPr>
          <p:cNvPr id="155" name="Google Shape;155;p16"/>
          <p:cNvSpPr txBox="1"/>
          <p:nvPr>
            <p:ph idx="2" type="body"/>
          </p:nvPr>
        </p:nvSpPr>
        <p:spPr>
          <a:xfrm>
            <a:off x="1178725" y="2846275"/>
            <a:ext cx="6807900" cy="2911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3-4 stacks of convolutional, ReLU, and pooling layers followed by fully connected layers</a:t>
            </a:r>
            <a:endParaRPr sz="1500"/>
          </a:p>
          <a:p>
            <a:pPr indent="0" lvl="0" marL="0" rtl="0" algn="l">
              <a:spcBef>
                <a:spcPts val="1200"/>
              </a:spcBef>
              <a:spcAft>
                <a:spcPts val="1200"/>
              </a:spcAft>
              <a:buNone/>
            </a:pPr>
            <a:r>
              <a:t/>
            </a:r>
            <a:endParaRPr/>
          </a:p>
        </p:txBody>
      </p:sp>
      <p:pic>
        <p:nvPicPr>
          <p:cNvPr id="156" name="Google Shape;156;p16"/>
          <p:cNvPicPr preferRelativeResize="0"/>
          <p:nvPr/>
        </p:nvPicPr>
        <p:blipFill>
          <a:blip r:embed="rId3">
            <a:alphaModFix/>
          </a:blip>
          <a:stretch>
            <a:fillRect/>
          </a:stretch>
        </p:blipFill>
        <p:spPr>
          <a:xfrm>
            <a:off x="1142813" y="1079002"/>
            <a:ext cx="6629775" cy="1492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 ResNet50</a:t>
            </a:r>
            <a:endParaRPr/>
          </a:p>
        </p:txBody>
      </p:sp>
      <p:sp>
        <p:nvSpPr>
          <p:cNvPr id="162" name="Google Shape;162;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ResNet Architecture:</a:t>
            </a:r>
            <a:endParaRPr/>
          </a:p>
          <a:p>
            <a:pPr indent="-311150" lvl="0" marL="457200" rtl="0" algn="l">
              <a:spcBef>
                <a:spcPts val="1200"/>
              </a:spcBef>
              <a:spcAft>
                <a:spcPts val="0"/>
              </a:spcAft>
              <a:buSzPts val="1300"/>
              <a:buChar char="●"/>
            </a:pPr>
            <a:r>
              <a:rPr lang="en"/>
              <a:t>50 layers, including convolutional, batch normalization, ReLU, and fully connected layers</a:t>
            </a:r>
            <a:endParaRPr/>
          </a:p>
          <a:p>
            <a:pPr indent="-311150" lvl="0" marL="457200" rtl="0" algn="l">
              <a:spcBef>
                <a:spcPts val="0"/>
              </a:spcBef>
              <a:spcAft>
                <a:spcPts val="0"/>
              </a:spcAft>
              <a:buSzPts val="1300"/>
              <a:buChar char="●"/>
            </a:pPr>
            <a:r>
              <a:rPr lang="en"/>
              <a:t>cannot take an input channel equal to 1 for grayscale images, we prepare a separate dataloader for this model and set the channel to be 3</a:t>
            </a:r>
            <a:endParaRPr/>
          </a:p>
        </p:txBody>
      </p:sp>
      <p:pic>
        <p:nvPicPr>
          <p:cNvPr id="163" name="Google Shape;163;p17"/>
          <p:cNvPicPr preferRelativeResize="0"/>
          <p:nvPr/>
        </p:nvPicPr>
        <p:blipFill>
          <a:blip r:embed="rId3">
            <a:alphaModFix/>
          </a:blip>
          <a:stretch>
            <a:fillRect/>
          </a:stretch>
        </p:blipFill>
        <p:spPr>
          <a:xfrm>
            <a:off x="4964825" y="1194000"/>
            <a:ext cx="1627675" cy="3506949"/>
          </a:xfrm>
          <a:prstGeom prst="rect">
            <a:avLst/>
          </a:prstGeom>
          <a:noFill/>
          <a:ln>
            <a:noFill/>
          </a:ln>
        </p:spPr>
      </p:pic>
      <p:pic>
        <p:nvPicPr>
          <p:cNvPr id="164" name="Google Shape;164;p17"/>
          <p:cNvPicPr preferRelativeResize="0"/>
          <p:nvPr/>
        </p:nvPicPr>
        <p:blipFill>
          <a:blip r:embed="rId4">
            <a:alphaModFix/>
          </a:blip>
          <a:stretch>
            <a:fillRect/>
          </a:stretch>
        </p:blipFill>
        <p:spPr>
          <a:xfrm>
            <a:off x="6856625" y="1194000"/>
            <a:ext cx="1434271" cy="3506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 U-Net</a:t>
            </a:r>
            <a:endParaRPr/>
          </a:p>
        </p:txBody>
      </p:sp>
      <p:sp>
        <p:nvSpPr>
          <p:cNvPr id="170" name="Google Shape;170;p18"/>
          <p:cNvSpPr txBox="1"/>
          <p:nvPr>
            <p:ph idx="1" type="body"/>
          </p:nvPr>
        </p:nvSpPr>
        <p:spPr>
          <a:xfrm>
            <a:off x="1168800" y="1024800"/>
            <a:ext cx="3403200" cy="36429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4957"/>
              <a:t>Encoder:</a:t>
            </a:r>
            <a:endParaRPr sz="4957"/>
          </a:p>
          <a:p>
            <a:pPr indent="-307303" lvl="0" marL="457200" rtl="0" algn="l">
              <a:spcBef>
                <a:spcPts val="1200"/>
              </a:spcBef>
              <a:spcAft>
                <a:spcPts val="0"/>
              </a:spcAft>
              <a:buSzPct val="100000"/>
              <a:buChar char="●"/>
            </a:pPr>
            <a:r>
              <a:rPr lang="en" sz="4957"/>
              <a:t>4 sets of double convolution blocks</a:t>
            </a:r>
            <a:endParaRPr sz="4957"/>
          </a:p>
          <a:p>
            <a:pPr indent="-307303" lvl="0" marL="457200" rtl="0" algn="l">
              <a:spcBef>
                <a:spcPts val="0"/>
              </a:spcBef>
              <a:spcAft>
                <a:spcPts val="0"/>
              </a:spcAft>
              <a:buSzPct val="100000"/>
              <a:buChar char="●"/>
            </a:pPr>
            <a:r>
              <a:rPr lang="en" sz="4957"/>
              <a:t>ReLU activation</a:t>
            </a:r>
            <a:endParaRPr sz="4957"/>
          </a:p>
          <a:p>
            <a:pPr indent="-307303" lvl="0" marL="457200" rtl="0" algn="l">
              <a:spcBef>
                <a:spcPts val="0"/>
              </a:spcBef>
              <a:spcAft>
                <a:spcPts val="0"/>
              </a:spcAft>
              <a:buSzPct val="100000"/>
              <a:buChar char="●"/>
            </a:pPr>
            <a:r>
              <a:rPr lang="en" sz="4957"/>
              <a:t>Max Pooling</a:t>
            </a:r>
            <a:endParaRPr sz="4957"/>
          </a:p>
          <a:p>
            <a:pPr indent="0" lvl="0" marL="0" rtl="0" algn="l">
              <a:spcBef>
                <a:spcPts val="1200"/>
              </a:spcBef>
              <a:spcAft>
                <a:spcPts val="0"/>
              </a:spcAft>
              <a:buNone/>
            </a:pPr>
            <a:r>
              <a:rPr lang="en" sz="4957"/>
              <a:t>Decoder:</a:t>
            </a:r>
            <a:endParaRPr sz="4957"/>
          </a:p>
          <a:p>
            <a:pPr indent="-307303" lvl="0" marL="457200" rtl="0" algn="l">
              <a:spcBef>
                <a:spcPts val="1200"/>
              </a:spcBef>
              <a:spcAft>
                <a:spcPts val="0"/>
              </a:spcAft>
              <a:buSzPct val="100000"/>
              <a:buChar char="●"/>
            </a:pPr>
            <a:r>
              <a:rPr lang="en" sz="4957"/>
              <a:t>4 sets of up-convolution blocks</a:t>
            </a:r>
            <a:endParaRPr sz="4957"/>
          </a:p>
          <a:p>
            <a:pPr indent="-307303" lvl="0" marL="457200" rtl="0" algn="l">
              <a:spcBef>
                <a:spcPts val="0"/>
              </a:spcBef>
              <a:spcAft>
                <a:spcPts val="0"/>
              </a:spcAft>
              <a:buSzPct val="100000"/>
              <a:buChar char="●"/>
            </a:pPr>
            <a:r>
              <a:rPr lang="en" sz="4957"/>
              <a:t>ReLU activation</a:t>
            </a:r>
            <a:endParaRPr sz="4957"/>
          </a:p>
          <a:p>
            <a:pPr indent="-307303" lvl="0" marL="457200" rtl="0" algn="l">
              <a:spcBef>
                <a:spcPts val="0"/>
              </a:spcBef>
              <a:spcAft>
                <a:spcPts val="0"/>
              </a:spcAft>
              <a:buSzPct val="100000"/>
              <a:buChar char="●"/>
            </a:pPr>
            <a:r>
              <a:rPr lang="en" sz="4957"/>
              <a:t>Adaptive Average Pooling (Global)</a:t>
            </a:r>
            <a:endParaRPr sz="4957"/>
          </a:p>
          <a:p>
            <a:pPr indent="0" lvl="0" marL="0" rtl="0" algn="l">
              <a:spcBef>
                <a:spcPts val="1200"/>
              </a:spcBef>
              <a:spcAft>
                <a:spcPts val="0"/>
              </a:spcAft>
              <a:buNone/>
            </a:pPr>
            <a:r>
              <a:rPr lang="en" sz="4957"/>
              <a:t>Skip Connections:</a:t>
            </a:r>
            <a:endParaRPr sz="4957"/>
          </a:p>
          <a:p>
            <a:pPr indent="-307303" lvl="0" marL="457200" rtl="0" algn="l">
              <a:spcBef>
                <a:spcPts val="1200"/>
              </a:spcBef>
              <a:spcAft>
                <a:spcPts val="0"/>
              </a:spcAft>
              <a:buSzPct val="100000"/>
              <a:buChar char="●"/>
            </a:pPr>
            <a:r>
              <a:rPr lang="en" sz="4957"/>
              <a:t>help the network better localize and preserve high-resolution features</a:t>
            </a:r>
            <a:endParaRPr sz="4957"/>
          </a:p>
          <a:p>
            <a:pPr indent="0" lvl="0" marL="0" rtl="0" algn="l">
              <a:spcBef>
                <a:spcPts val="1200"/>
              </a:spcBef>
              <a:spcAft>
                <a:spcPts val="0"/>
              </a:spcAft>
              <a:buNone/>
            </a:pPr>
            <a:r>
              <a:rPr lang="en" sz="4957"/>
              <a:t>Input: 1 or 3 channel image</a:t>
            </a:r>
            <a:endParaRPr sz="4957"/>
          </a:p>
          <a:p>
            <a:pPr indent="0" lvl="0" marL="0" rtl="0" algn="l">
              <a:spcBef>
                <a:spcPts val="1200"/>
              </a:spcBef>
              <a:spcAft>
                <a:spcPts val="0"/>
              </a:spcAft>
              <a:buNone/>
            </a:pPr>
            <a:r>
              <a:rPr lang="en" sz="4957"/>
              <a:t>Output: 38 coordinates (19*2)</a:t>
            </a:r>
            <a:endParaRPr sz="4957"/>
          </a:p>
          <a:p>
            <a:pPr indent="0" lvl="0" marL="0" rtl="0" algn="l">
              <a:spcBef>
                <a:spcPts val="1200"/>
              </a:spcBef>
              <a:spcAft>
                <a:spcPts val="1200"/>
              </a:spcAft>
              <a:buNone/>
            </a:pPr>
            <a:r>
              <a:t/>
            </a:r>
            <a:endParaRPr/>
          </a:p>
        </p:txBody>
      </p:sp>
      <p:pic>
        <p:nvPicPr>
          <p:cNvPr id="171" name="Google Shape;171;p18"/>
          <p:cNvPicPr preferRelativeResize="0"/>
          <p:nvPr/>
        </p:nvPicPr>
        <p:blipFill>
          <a:blip r:embed="rId3">
            <a:alphaModFix/>
          </a:blip>
          <a:stretch>
            <a:fillRect/>
          </a:stretch>
        </p:blipFill>
        <p:spPr>
          <a:xfrm>
            <a:off x="4754351" y="1093825"/>
            <a:ext cx="1688375" cy="3642899"/>
          </a:xfrm>
          <a:prstGeom prst="rect">
            <a:avLst/>
          </a:prstGeom>
          <a:noFill/>
          <a:ln>
            <a:noFill/>
          </a:ln>
        </p:spPr>
      </p:pic>
      <p:pic>
        <p:nvPicPr>
          <p:cNvPr id="172" name="Google Shape;172;p18"/>
          <p:cNvPicPr preferRelativeResize="0"/>
          <p:nvPr/>
        </p:nvPicPr>
        <p:blipFill>
          <a:blip r:embed="rId4">
            <a:alphaModFix/>
          </a:blip>
          <a:stretch>
            <a:fillRect/>
          </a:stretch>
        </p:blipFill>
        <p:spPr>
          <a:xfrm>
            <a:off x="6625075" y="1093825"/>
            <a:ext cx="1570708" cy="3642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Performance</a:t>
            </a:r>
            <a:endParaRPr/>
          </a:p>
        </p:txBody>
      </p:sp>
      <p:sp>
        <p:nvSpPr>
          <p:cNvPr id="178" name="Google Shape;178;p19"/>
          <p:cNvSpPr txBox="1"/>
          <p:nvPr/>
        </p:nvSpPr>
        <p:spPr>
          <a:xfrm>
            <a:off x="321450" y="4457725"/>
            <a:ext cx="8236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Lato"/>
                <a:ea typeface="Lato"/>
                <a:cs typeface="Lato"/>
                <a:sym typeface="Lato"/>
              </a:rPr>
              <a:t>The evaluation results of our models can be found at </a:t>
            </a:r>
            <a:r>
              <a:rPr lang="en" sz="1100" u="sng">
                <a:solidFill>
                  <a:schemeClr val="hlink"/>
                </a:solidFill>
                <a:latin typeface="Lato"/>
                <a:ea typeface="Lato"/>
                <a:cs typeface="Lato"/>
                <a:sym typeface="Lato"/>
                <a:hlinkClick r:id="rId3"/>
              </a:rPr>
              <a:t>https://wandb.ai/646_project/646_project?workspace=user-zp15</a:t>
            </a:r>
            <a:endParaRPr sz="1100">
              <a:solidFill>
                <a:schemeClr val="lt1"/>
              </a:solidFill>
              <a:latin typeface="Lato"/>
              <a:ea typeface="Lato"/>
              <a:cs typeface="Lato"/>
              <a:sym typeface="Lato"/>
            </a:endParaRPr>
          </a:p>
        </p:txBody>
      </p:sp>
      <p:pic>
        <p:nvPicPr>
          <p:cNvPr id="179" name="Google Shape;179;p19"/>
          <p:cNvPicPr preferRelativeResize="0"/>
          <p:nvPr/>
        </p:nvPicPr>
        <p:blipFill>
          <a:blip r:embed="rId4">
            <a:alphaModFix/>
          </a:blip>
          <a:stretch>
            <a:fillRect/>
          </a:stretch>
        </p:blipFill>
        <p:spPr>
          <a:xfrm>
            <a:off x="1338075" y="1174250"/>
            <a:ext cx="3540198" cy="2055050"/>
          </a:xfrm>
          <a:prstGeom prst="rect">
            <a:avLst/>
          </a:prstGeom>
          <a:noFill/>
          <a:ln>
            <a:noFill/>
          </a:ln>
        </p:spPr>
      </p:pic>
      <p:pic>
        <p:nvPicPr>
          <p:cNvPr id="180" name="Google Shape;180;p19"/>
          <p:cNvPicPr preferRelativeResize="0"/>
          <p:nvPr/>
        </p:nvPicPr>
        <p:blipFill>
          <a:blip r:embed="rId5">
            <a:alphaModFix/>
          </a:blip>
          <a:stretch>
            <a:fillRect/>
          </a:stretch>
        </p:blipFill>
        <p:spPr>
          <a:xfrm>
            <a:off x="5072425" y="1174250"/>
            <a:ext cx="3540201" cy="2070691"/>
          </a:xfrm>
          <a:prstGeom prst="rect">
            <a:avLst/>
          </a:prstGeom>
          <a:noFill/>
          <a:ln>
            <a:noFill/>
          </a:ln>
        </p:spPr>
      </p:pic>
      <p:sp>
        <p:nvSpPr>
          <p:cNvPr id="181" name="Google Shape;181;p19"/>
          <p:cNvSpPr txBox="1"/>
          <p:nvPr>
            <p:ph idx="2" type="body"/>
          </p:nvPr>
        </p:nvSpPr>
        <p:spPr>
          <a:xfrm>
            <a:off x="1619125" y="3415075"/>
            <a:ext cx="4601400" cy="969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Hyperparameters: batch_size =10, learning_rate = 1e-3, </a:t>
            </a:r>
            <a:endParaRPr/>
          </a:p>
          <a:p>
            <a:pPr indent="0" lvl="0" marL="0" rtl="0" algn="l">
              <a:spcBef>
                <a:spcPts val="1200"/>
              </a:spcBef>
              <a:spcAft>
                <a:spcPts val="0"/>
              </a:spcAft>
              <a:buNone/>
            </a:pPr>
            <a:r>
              <a:rPr lang="en"/>
              <a:t>SGD/Adam optimizer, MSE loss</a:t>
            </a:r>
            <a:endParaRPr/>
          </a:p>
          <a:p>
            <a:pPr indent="0" lvl="0" marL="0" rtl="0" algn="l">
              <a:spcBef>
                <a:spcPts val="1200"/>
              </a:spcBef>
              <a:spcAft>
                <a:spcPts val="1200"/>
              </a:spcAft>
              <a:buNone/>
            </a:pPr>
            <a:r>
              <a:rPr lang="en"/>
              <a:t>U-NET converges slower; CNN and Deeper CNN start with lower loss</a:t>
            </a:r>
            <a:endParaRPr/>
          </a:p>
        </p:txBody>
      </p:sp>
      <p:pic>
        <p:nvPicPr>
          <p:cNvPr id="182" name="Google Shape;182;p19"/>
          <p:cNvPicPr preferRelativeResize="0"/>
          <p:nvPr/>
        </p:nvPicPr>
        <p:blipFill>
          <a:blip r:embed="rId6">
            <a:alphaModFix/>
          </a:blip>
          <a:stretch>
            <a:fillRect/>
          </a:stretch>
        </p:blipFill>
        <p:spPr>
          <a:xfrm>
            <a:off x="6140985" y="3336413"/>
            <a:ext cx="2471640" cy="1029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Performance</a:t>
            </a:r>
            <a:endParaRPr/>
          </a:p>
        </p:txBody>
      </p:sp>
      <p:sp>
        <p:nvSpPr>
          <p:cNvPr id="188" name="Google Shape;188;p20"/>
          <p:cNvSpPr txBox="1"/>
          <p:nvPr>
            <p:ph idx="2" type="body"/>
          </p:nvPr>
        </p:nvSpPr>
        <p:spPr>
          <a:xfrm>
            <a:off x="5308971" y="11161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Evaluate the performance of models based on their prediction accuracy on the testing set:</a:t>
            </a:r>
            <a:endParaRPr/>
          </a:p>
          <a:p>
            <a:pPr indent="-311150" lvl="0" marL="457200" rtl="0" algn="l">
              <a:spcBef>
                <a:spcPts val="1200"/>
              </a:spcBef>
              <a:spcAft>
                <a:spcPts val="0"/>
              </a:spcAft>
              <a:buSzPts val="1300"/>
              <a:buChar char="●"/>
            </a:pPr>
            <a:r>
              <a:rPr lang="en"/>
              <a:t>Simple CNN model with more layers has the best performance</a:t>
            </a:r>
            <a:endParaRPr/>
          </a:p>
          <a:p>
            <a:pPr indent="-311150" lvl="0" marL="457200" rtl="0" algn="l">
              <a:spcBef>
                <a:spcPts val="0"/>
              </a:spcBef>
              <a:spcAft>
                <a:spcPts val="0"/>
              </a:spcAft>
              <a:buSzPts val="1300"/>
              <a:buChar char="●"/>
            </a:pPr>
            <a:r>
              <a:rPr lang="en"/>
              <a:t>ResNet50: whether include pre-trained model does not improve </a:t>
            </a:r>
            <a:endParaRPr/>
          </a:p>
          <a:p>
            <a:pPr indent="0" lvl="0" marL="0" rtl="0" algn="l">
              <a:spcBef>
                <a:spcPts val="1200"/>
              </a:spcBef>
              <a:spcAft>
                <a:spcPts val="1200"/>
              </a:spcAft>
              <a:buNone/>
            </a:pPr>
            <a:r>
              <a:rPr lang="en"/>
              <a:t>Accuracy: threshold = 10</a:t>
            </a:r>
            <a:endParaRPr/>
          </a:p>
        </p:txBody>
      </p:sp>
      <p:sp>
        <p:nvSpPr>
          <p:cNvPr id="189" name="Google Shape;189;p20"/>
          <p:cNvSpPr txBox="1"/>
          <p:nvPr/>
        </p:nvSpPr>
        <p:spPr>
          <a:xfrm>
            <a:off x="321450" y="4457725"/>
            <a:ext cx="8236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Lato"/>
                <a:ea typeface="Lato"/>
                <a:cs typeface="Lato"/>
                <a:sym typeface="Lato"/>
              </a:rPr>
              <a:t>The evaluation results of our models can be found at </a:t>
            </a:r>
            <a:r>
              <a:rPr lang="en" sz="1100" u="sng">
                <a:solidFill>
                  <a:schemeClr val="hlink"/>
                </a:solidFill>
                <a:latin typeface="Lato"/>
                <a:ea typeface="Lato"/>
                <a:cs typeface="Lato"/>
                <a:sym typeface="Lato"/>
                <a:hlinkClick r:id="rId3"/>
              </a:rPr>
              <a:t>https://wandb.ai/646_project/646_project?workspace=user-zp15</a:t>
            </a:r>
            <a:endParaRPr sz="1100">
              <a:solidFill>
                <a:schemeClr val="lt1"/>
              </a:solidFill>
              <a:latin typeface="Lato"/>
              <a:ea typeface="Lato"/>
              <a:cs typeface="Lato"/>
              <a:sym typeface="Lato"/>
            </a:endParaRPr>
          </a:p>
        </p:txBody>
      </p:sp>
      <p:pic>
        <p:nvPicPr>
          <p:cNvPr id="190" name="Google Shape;190;p20"/>
          <p:cNvPicPr preferRelativeResize="0"/>
          <p:nvPr/>
        </p:nvPicPr>
        <p:blipFill>
          <a:blip r:embed="rId4">
            <a:alphaModFix/>
          </a:blip>
          <a:stretch>
            <a:fillRect/>
          </a:stretch>
        </p:blipFill>
        <p:spPr>
          <a:xfrm>
            <a:off x="1215175" y="1224350"/>
            <a:ext cx="3859501" cy="236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Sample Prediction</a:t>
            </a:r>
            <a:endParaRPr/>
          </a:p>
        </p:txBody>
      </p:sp>
      <p:sp>
        <p:nvSpPr>
          <p:cNvPr id="196" name="Google Shape;196;p21"/>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Red: ground truth landmarks</a:t>
            </a:r>
            <a:endParaRPr/>
          </a:p>
          <a:p>
            <a:pPr indent="0" lvl="0" marL="0" rtl="0" algn="l">
              <a:spcBef>
                <a:spcPts val="1200"/>
              </a:spcBef>
              <a:spcAft>
                <a:spcPts val="1200"/>
              </a:spcAft>
              <a:buNone/>
            </a:pPr>
            <a:r>
              <a:rPr lang="en"/>
              <a:t>Green: predicted points using U-Net model</a:t>
            </a:r>
            <a:endParaRPr/>
          </a:p>
        </p:txBody>
      </p:sp>
      <p:pic>
        <p:nvPicPr>
          <p:cNvPr id="197" name="Google Shape;197;p21"/>
          <p:cNvPicPr preferRelativeResize="0"/>
          <p:nvPr/>
        </p:nvPicPr>
        <p:blipFill>
          <a:blip r:embed="rId3">
            <a:alphaModFix/>
          </a:blip>
          <a:stretch>
            <a:fillRect/>
          </a:stretch>
        </p:blipFill>
        <p:spPr>
          <a:xfrm>
            <a:off x="1246200" y="1451900"/>
            <a:ext cx="2911200" cy="2911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